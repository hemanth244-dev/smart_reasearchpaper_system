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A896"/>
                </a:solidFill>
              </a:defRPr>
            </a:pPr>
            <a:r>
              <a:t>ADVANCED DATA STRUCTURES &amp; ALGORITHMS • MINI PROJECT •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6949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Smart Research Paper</a:t>
            </a:r>
            <a:br/>
            <a:r>
              <a:t>Recommendation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694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DD3FC"/>
                </a:solidFill>
              </a:defRPr>
            </a:pPr>
            <a:r>
              <a:t>Using Text Similarity, Graph-Based Matching, and Dynamic Programming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20440"/>
            <a:ext cx="1600200" cy="804672"/>
          </a:xfrm>
          <a:prstGeom prst="roundRect">
            <a:avLst/>
          </a:prstGeom>
          <a:solidFill>
            <a:srgbClr val="132640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630168"/>
            <a:ext cx="1417320" cy="5852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850" b="1">
                <a:solidFill>
                  <a:srgbClr val="00A896"/>
                </a:solidFill>
              </a:defRPr>
            </a:pPr>
            <a:r>
              <a:t>BUILT WITH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Java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3520440"/>
            <a:ext cx="1600200" cy="804672"/>
          </a:xfrm>
          <a:prstGeom prst="roundRect">
            <a:avLst/>
          </a:prstGeom>
          <a:solidFill>
            <a:srgbClr val="132640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3630168"/>
            <a:ext cx="1417320" cy="5852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850" b="1">
                <a:solidFill>
                  <a:srgbClr val="00A896"/>
                </a:solidFill>
              </a:defRPr>
            </a:pPr>
            <a:r>
              <a:t>DOMAIN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Advanced DSA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3520440"/>
            <a:ext cx="1600200" cy="804672"/>
          </a:xfrm>
          <a:prstGeom prst="roundRect">
            <a:avLst/>
          </a:prstGeom>
          <a:solidFill>
            <a:srgbClr val="132640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3630168"/>
            <a:ext cx="1417320" cy="5852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850" b="1">
                <a:solidFill>
                  <a:srgbClr val="00A896"/>
                </a:solidFill>
              </a:defRPr>
            </a:pPr>
            <a:r>
              <a:t>APPLICATION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Digital Libraries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3520440"/>
            <a:ext cx="1600200" cy="804672"/>
          </a:xfrm>
          <a:prstGeom prst="roundRect">
            <a:avLst/>
          </a:prstGeom>
          <a:solidFill>
            <a:srgbClr val="132640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80" y="3630168"/>
            <a:ext cx="1417320" cy="5852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850" b="1">
                <a:solidFill>
                  <a:srgbClr val="00A896"/>
                </a:solidFill>
              </a:defRPr>
            </a:pPr>
            <a:r>
              <a:t>EVALUATION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Review 2 - 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177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A896"/>
                </a:solidFill>
              </a:defRPr>
            </a:pPr>
            <a:r>
              <a:t>TEAM MEMBERS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83480"/>
            <a:ext cx="3291840" cy="5943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250" b="1">
                <a:solidFill>
                  <a:srgbClr val="FFFFFF"/>
                </a:solidFill>
              </a:defRPr>
            </a:pPr>
            <a:r>
              <a:t>Akula Yeshwanth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Reg No: 2510030357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4983480"/>
            <a:ext cx="3291840" cy="5943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250" b="1">
                <a:solidFill>
                  <a:srgbClr val="FFFFFF"/>
                </a:solidFill>
              </a:defRPr>
            </a:pPr>
            <a:r>
              <a:t>SRK Akshith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Reg No: 2510030365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669280"/>
            <a:ext cx="3291840" cy="5943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250" b="1">
                <a:solidFill>
                  <a:srgbClr val="FFFFFF"/>
                </a:solidFill>
              </a:defRPr>
            </a:pPr>
            <a:r>
              <a:t>Parimal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Reg No: 2510030368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5669280"/>
            <a:ext cx="3291840" cy="5943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250" b="1">
                <a:solidFill>
                  <a:srgbClr val="FFFFFF"/>
                </a:solidFill>
              </a:defRPr>
            </a:pPr>
            <a:r>
              <a:t>Hemanth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Reg No: 2510030326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1005840"/>
            <a:ext cx="3474720" cy="4937760"/>
          </a:xfrm>
          <a:prstGeom prst="roundRect">
            <a:avLst/>
          </a:prstGeom>
          <a:solidFill>
            <a:srgbClr val="13264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9" y="123444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896"/>
                </a:solidFill>
              </a:defRPr>
            </a:pPr>
            <a:r>
              <a:t>REVIEW 2 DELIVERABLES</a:t>
            </a:r>
          </a:p>
          <a:p>
            <a:pPr>
              <a:spcBef>
                <a:spcPts val="700"/>
              </a:spcBef>
              <a:defRPr sz="1050" b="1">
                <a:solidFill>
                  <a:srgbClr val="FFFFFF"/>
                </a:solidFill>
              </a:defRPr>
            </a:pPr>
            <a:r>
              <a:t>✔ Problem &amp; Gap Formulation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Formalizing limitations in traditional search vs our pure DSA approach.</a:t>
            </a:r>
          </a:p>
          <a:p>
            <a:pPr>
              <a:spcBef>
                <a:spcPts val="700"/>
              </a:spcBef>
              <a:defRPr sz="1050" b="1">
                <a:solidFill>
                  <a:srgbClr val="FFFFFF"/>
                </a:solidFill>
              </a:defRPr>
            </a:pPr>
            <a:r>
              <a:t>✔ Architecture &amp; Workflow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Layered modular architecture &amp; end-to-end processing pipeline.</a:t>
            </a:r>
          </a:p>
          <a:p>
            <a:pPr>
              <a:spcBef>
                <a:spcPts val="700"/>
              </a:spcBef>
              <a:defRPr sz="1050" b="1">
                <a:solidFill>
                  <a:srgbClr val="FFFFFF"/>
                </a:solidFill>
              </a:defRPr>
            </a:pPr>
            <a:r>
              <a:t>✔ Rabin-Karp String Search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Implemented rolling hash pattern search across paper metadata.</a:t>
            </a:r>
          </a:p>
          <a:p>
            <a:pPr>
              <a:spcBef>
                <a:spcPts val="700"/>
              </a:spcBef>
              <a:defRPr sz="1050" b="1">
                <a:solidFill>
                  <a:srgbClr val="FFFFFF"/>
                </a:solidFill>
              </a:defRPr>
            </a:pPr>
            <a:r>
              <a:t>✔ Levenshtein DP Similarity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2D dynamic programming matrix for typo tolerance &amp; fuzzy matching.</a:t>
            </a:r>
          </a:p>
          <a:p>
            <a:pPr>
              <a:spcBef>
                <a:spcPts val="700"/>
              </a:spcBef>
              <a:defRPr sz="1050" b="1">
                <a:solidFill>
                  <a:srgbClr val="FFFFFF"/>
                </a:solidFill>
              </a:defRPr>
            </a:pPr>
            <a:r>
              <a:t>✔ Bipartite Graph Matching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Adjacency-list graph + Augmenting Path DFS for optimal topic coverage.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47395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0A896"/>
                </a:solidFill>
              </a:defRPr>
            </a:pPr>
            <a: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914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1">
                <a:solidFill>
                  <a:srgbClr val="00A896"/>
                </a:solidFill>
              </a:defRPr>
            </a:pPr>
            <a:r>
              <a:t>THE NEED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1440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300" b="1">
                <a:solidFill>
                  <a:srgbClr val="0B192C"/>
                </a:solidFill>
              </a:defRPr>
            </a:pPr>
            <a:r>
              <a:t>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70432"/>
            <a:ext cx="1097280" cy="4114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 Research Paper Recommendation System  |  Review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73952"/>
            <a:ext cx="182880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50" b="1">
                <a:solidFill>
                  <a:srgbClr val="00A896"/>
                </a:solidFill>
              </a:defRPr>
            </a:pPr>
            <a:r>
              <a:t>2/10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65836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36192"/>
            <a:ext cx="6126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192C"/>
                </a:solidFill>
              </a:defRPr>
            </a:pPr>
            <a:r>
              <a:t>The Academic Information Overload Challenge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Students and researchers waste substantial research time sifting through thousands of irrelevant papers due to flawed search paradigms:</a:t>
            </a:r>
          </a:p>
          <a:p>
            <a:pPr>
              <a:spcBef>
                <a:spcPts val="400"/>
              </a:spcBef>
              <a:defRPr sz="1050" b="1">
                <a:solidFill>
                  <a:srgbClr val="0B192C"/>
                </a:solidFill>
              </a:defRPr>
            </a:pPr>
            <a:r>
              <a:t>[01]  Keyword Search Returns Irrelevant Results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    Standard search engines return thousands of loosely related results without measuring multi-field relevance across titles, abstracts, and keywords.</a:t>
            </a:r>
          </a:p>
          <a:p>
            <a:pPr>
              <a:spcBef>
                <a:spcPts val="400"/>
              </a:spcBef>
              <a:defRPr sz="1050" b="1">
                <a:solidFill>
                  <a:srgbClr val="0B192C"/>
                </a:solidFill>
              </a:defRPr>
            </a:pPr>
            <a:r>
              <a:t>[02]  Exact Keyword Search Fails on Typos &amp; Variations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    Rigid keyword lookup completely misses relevant papers if there are minor spelling errors, plurals, or morphological variations.</a:t>
            </a:r>
          </a:p>
          <a:p>
            <a:pPr>
              <a:spcBef>
                <a:spcPts val="400"/>
              </a:spcBef>
              <a:defRPr sz="1050" b="1">
                <a:solidFill>
                  <a:srgbClr val="0B192C"/>
                </a:solidFill>
              </a:defRPr>
            </a:pPr>
            <a:r>
              <a:t>[03]  No Balanced Topic Coverage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    Multi-topic queries suffer from single-keyword dominance, where papers matching only one generic term overshadow multi-disciplinary papers.</a:t>
            </a:r>
          </a:p>
          <a:p>
            <a:pPr>
              <a:spcBef>
                <a:spcPts val="400"/>
              </a:spcBef>
              <a:defRPr sz="1050" b="1">
                <a:solidFill>
                  <a:srgbClr val="0B192C"/>
                </a:solidFill>
              </a:defRPr>
            </a:pPr>
            <a:r>
              <a:t>[04]  Heavy Deep Learning Overhead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    Modern neural models (Transformers/BERT) require massive compute, GPUs, and black-box embeddings lacking explainable algorithmic ranking.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371600"/>
            <a:ext cx="3840480" cy="4846320"/>
          </a:xfrm>
          <a:prstGeom prst="roundRect">
            <a:avLst/>
          </a:prstGeom>
          <a:solidFill>
            <a:srgbClr val="0B192C"/>
          </a:solidFill>
          <a:ln w="1905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160020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896"/>
                </a:solidFill>
              </a:defRPr>
            </a:pPr>
            <a:r>
              <a:t>OUR APPROACH &amp; FORMULATION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Pure Java &amp; Advanced DSA</a:t>
            </a:r>
          </a:p>
          <a:p>
            <a:pPr>
              <a:spcBef>
                <a:spcPts val="500"/>
              </a:spcBef>
              <a:defRPr sz="1050" b="1">
                <a:solidFill>
                  <a:srgbClr val="00A896"/>
                </a:solidFill>
              </a:defRPr>
            </a:pPr>
            <a:r>
              <a:t>• Text Similarity (Exact)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  Rabin-Karp Rolling Hash algorithm provides high-speed exact pattern matching in O(N+M).</a:t>
            </a:r>
          </a:p>
          <a:p>
            <a:pPr>
              <a:spcBef>
                <a:spcPts val="500"/>
              </a:spcBef>
              <a:defRPr sz="1050" b="1">
                <a:solidFill>
                  <a:srgbClr val="00A896"/>
                </a:solidFill>
              </a:defRPr>
            </a:pPr>
            <a:r>
              <a:t>• Fuzzy Matching (Approximate)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  Dynamic Programming Edit Distance (Levenshtein Matrix) detects typos and variant terms in O(N*M).</a:t>
            </a:r>
          </a:p>
          <a:p>
            <a:pPr>
              <a:spcBef>
                <a:spcPts val="500"/>
              </a:spcBef>
              <a:defRPr sz="1050" b="1">
                <a:solidFill>
                  <a:srgbClr val="00A896"/>
                </a:solidFill>
              </a:defRPr>
            </a:pPr>
            <a:r>
              <a:t>• Graph-Based Matching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  Bipartite Graph (Topics ↔ Papers) + Maximum Bipartite Matching selects diverse, non-redundant papers.</a:t>
            </a:r>
          </a:p>
          <a:p>
            <a:pPr>
              <a:spcBef>
                <a:spcPts val="500"/>
              </a:spcBef>
              <a:defRPr sz="1050" b="1">
                <a:solidFill>
                  <a:srgbClr val="00A896"/>
                </a:solidFill>
              </a:defRPr>
            </a:pPr>
            <a:r>
              <a:t>• Deterministic Ranking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  Explainable composite scoring (70% Exact + 30% Fuzzy) without heavy AI dependencies.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914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1">
                <a:solidFill>
                  <a:srgbClr val="00A896"/>
                </a:solidFill>
              </a:defRPr>
            </a:pPr>
            <a:r>
              <a:t>GOALS &amp; SPECIFICATIONS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1440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300" b="1">
                <a:solidFill>
                  <a:srgbClr val="0B192C"/>
                </a:solidFill>
              </a:defRPr>
            </a:pPr>
            <a:r>
              <a:t>Project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70432"/>
            <a:ext cx="1097280" cy="4114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 Research Paper Recommendation System  |  Review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73952"/>
            <a:ext cx="182880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50" b="1">
                <a:solidFill>
                  <a:srgbClr val="00A896"/>
                </a:solidFill>
              </a:defRPr>
            </a:pPr>
            <a:r>
              <a:t>3/10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3328416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17320"/>
            <a:ext cx="3328416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54480"/>
            <a:ext cx="296265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B192C"/>
                </a:solidFill>
              </a:defRPr>
            </a:pPr>
            <a:r>
              <a:t>01  Multi-Attribute Paper Search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Accept research topics and keywords; preprocess query tokens and search across paper titles, author tags, keywords, and abstracts.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328416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417320"/>
            <a:ext cx="3328416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554480"/>
            <a:ext cx="296265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B192C"/>
                </a:solidFill>
              </a:defRPr>
            </a:pPr>
            <a:r>
              <a:t>02  Exact Pattern Matching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Implement the Rabin-Karp Rolling Hash algorithm to identify exact keyword occurrences across large paper bodies in O(N+M) 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17320"/>
            <a:ext cx="3328416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417320"/>
            <a:ext cx="3328416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554480"/>
            <a:ext cx="296265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B192C"/>
                </a:solidFill>
              </a:defRPr>
            </a:pPr>
            <a:r>
              <a:t>03  Approximate / Fuzzy Matching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Implement Dynamic Programming Levenshtein Edit Distance to accurately detect misspelled terms, variations, and closely related topics.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86200"/>
            <a:ext cx="3328416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886200"/>
            <a:ext cx="3328416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023360"/>
            <a:ext cx="296265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B192C"/>
                </a:solidFill>
              </a:defRPr>
            </a:pPr>
            <a:r>
              <a:t>04  Bipartite Graph Modeling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Construct a bipartite graph G = (U, V, E) where U represents distinct query topic components and V represents candidate research papers.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886200"/>
            <a:ext cx="3328416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3886200"/>
            <a:ext cx="3328416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4023360"/>
            <a:ext cx="296265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B192C"/>
                </a:solidFill>
              </a:defRPr>
            </a:pPr>
            <a:r>
              <a:t>05  Maximum Bipartite Matching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Apply Maximum Bipartite Matching (Augmenting Path / Hopcroft-Karp) to select the optimal set of papers covering all query facets.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886200"/>
            <a:ext cx="3328416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3886200"/>
            <a:ext cx="3328416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4023360"/>
            <a:ext cx="296265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B192C"/>
                </a:solidFill>
              </a:defRPr>
            </a:pPr>
            <a:r>
              <a:t>06  Ranked Recommendation Output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Calculate composite relevance scores (70% exact + 30% fuzzy), rank results, and display structured recommendation cards in JavaFX.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914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1">
                <a:solidFill>
                  <a:srgbClr val="00A896"/>
                </a:solidFill>
              </a:defRPr>
            </a:pPr>
            <a:r>
              <a:t>LITERATURE &amp; SYSTEM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1440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300" b="1">
                <a:solidFill>
                  <a:srgbClr val="0B192C"/>
                </a:solidFill>
              </a:defRPr>
            </a:pPr>
            <a:r>
              <a:t>Existing System &amp; Limitations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70432"/>
            <a:ext cx="1097280" cy="4114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 Research Paper Recommendation System  |  Review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73952"/>
            <a:ext cx="182880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50" b="1">
                <a:solidFill>
                  <a:srgbClr val="00A896"/>
                </a:solidFill>
              </a:defRPr>
            </a:pPr>
            <a:r>
              <a:t>4/10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1663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B192C"/>
                </a:solidFill>
              </a:defRPr>
            </a:pPr>
            <a:r>
              <a:t>Existing Search Paradigms</a:t>
            </a:r>
          </a:p>
          <a:p>
            <a:pPr>
              <a:spcBef>
                <a:spcPts val="800"/>
              </a:spcBef>
              <a:defRPr sz="1050" b="1">
                <a:solidFill>
                  <a:srgbClr val="0B192C"/>
                </a:solidFill>
              </a:defRPr>
            </a:pPr>
            <a:r>
              <a:t>• Basic Boolean / SQL LIKE Matching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Uses rudimentary substring searches. Suffers from high computational overhead (O(N*M) naive scans) and provides zero ranked relevance ordering.</a:t>
            </a:r>
          </a:p>
          <a:p>
            <a:pPr>
              <a:spcBef>
                <a:spcPts val="800"/>
              </a:spcBef>
              <a:defRPr sz="1050" b="1">
                <a:solidFill>
                  <a:srgbClr val="0B192C"/>
                </a:solidFill>
              </a:defRPr>
            </a:pPr>
            <a:r>
              <a:t>• Inverted Index Without Fuzzy Tolerance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Locates exact token occurrences quickly, but fails catastrophically if query contains minor typographical errors or unindexed inflections.</a:t>
            </a:r>
          </a:p>
          <a:p>
            <a:pPr>
              <a:spcBef>
                <a:spcPts val="800"/>
              </a:spcBef>
              <a:defRPr sz="1050" b="1">
                <a:solidFill>
                  <a:srgbClr val="0B192C"/>
                </a:solidFill>
              </a:defRPr>
            </a:pPr>
            <a:r>
              <a:t>• Heavy Machine Learning / Vector Models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Utilizes deep Transformer embeddings (BERT, ScispaCy). High resource consumption, GPU dependency, opaque black-box ranking, and slow inference.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71600"/>
            <a:ext cx="52578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B192C"/>
                </a:solidFill>
              </a:defRPr>
            </a:pPr>
            <a:r>
              <a:t>Key Limitations &amp; Failure Points</a:t>
            </a:r>
          </a:p>
          <a:p>
            <a:pPr>
              <a:spcBef>
                <a:spcPts val="600"/>
              </a:spcBef>
              <a:defRPr sz="1050" b="1">
                <a:solidFill>
                  <a:srgbClr val="E11D48"/>
                </a:solidFill>
              </a:defRPr>
            </a:pPr>
            <a:r>
              <a:t>✕  Zero Multi-Topic Balancing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Traditional systems treat search queries as flat strings, resulting in single-keyword dominance where papers satisfying only one keyword drown out diverse results.</a:t>
            </a:r>
          </a:p>
          <a:p>
            <a:pPr>
              <a:spcBef>
                <a:spcPts val="600"/>
              </a:spcBef>
              <a:defRPr sz="1050" b="1">
                <a:solidFill>
                  <a:srgbClr val="E11D48"/>
                </a:solidFill>
              </a:defRPr>
            </a:pPr>
            <a:r>
              <a:t>✕  High False Positive &amp; Noise Rate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Matches peripheral keyword mentions without checking contextual distribution across title, keywords, and abstract.</a:t>
            </a:r>
          </a:p>
          <a:p>
            <a:pPr>
              <a:spcBef>
                <a:spcPts val="600"/>
              </a:spcBef>
              <a:defRPr sz="1050" b="1">
                <a:solidFill>
                  <a:srgbClr val="E11D48"/>
                </a:solidFill>
              </a:defRPr>
            </a:pPr>
            <a:r>
              <a:t>✕  Inflexible Exact String Matching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Fails to reconcile morphological variations (e.g., 'recommending' vs 'recommender' vs 'recomender').</a:t>
            </a:r>
          </a:p>
          <a:p>
            <a:pPr>
              <a:spcBef>
                <a:spcPts val="600"/>
              </a:spcBef>
              <a:defRPr sz="1050" b="1">
                <a:solidFill>
                  <a:srgbClr val="E11D48"/>
                </a:solidFill>
              </a:defRPr>
            </a:pPr>
            <a:r>
              <a:t>✕  Lack of Mathematical Explainability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Users cannot inspect the algorithmic reason why a specific paper was prioritized.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914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1">
                <a:solidFill>
                  <a:srgbClr val="00A896"/>
                </a:solidFill>
              </a:defRPr>
            </a:pPr>
            <a:r>
              <a:t>ALGORITHMIC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1440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300" b="1">
                <a:solidFill>
                  <a:srgbClr val="0B192C"/>
                </a:solidFill>
              </a:defRPr>
            </a:pPr>
            <a:r>
              <a:t>Proposed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70432"/>
            <a:ext cx="1097280" cy="4114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 Research Paper Recommendation System  |  Review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73952"/>
            <a:ext cx="182880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50" b="1">
                <a:solidFill>
                  <a:srgbClr val="00A896"/>
                </a:solidFill>
              </a:defRPr>
            </a:pPr>
            <a:r>
              <a:t>5/10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3328416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508760"/>
            <a:ext cx="3054096" cy="320040"/>
          </a:xfrm>
          <a:prstGeom prst="roundRect">
            <a:avLst/>
          </a:prstGeom>
          <a:solidFill>
            <a:srgbClr val="CC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36192"/>
            <a:ext cx="29626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28090"/>
                </a:solidFill>
              </a:defRPr>
            </a:pPr>
            <a:r>
              <a:t>RABIN-KARP + LEVENSHTEIN DP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20240"/>
            <a:ext cx="2962656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50" b="1">
                <a:solidFill>
                  <a:srgbClr val="0B192C"/>
                </a:solidFill>
              </a:defRPr>
            </a:pPr>
            <a:r>
              <a:t>Dual-Tier String Matching Engine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Integrates Rabin-Karp Rolling Hash for sub-linear exact keyword identification with Dynamic Programming Edit Distance for typo tolerance and near-synonym matching.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371600"/>
            <a:ext cx="3328416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26280" y="1508760"/>
            <a:ext cx="3054096" cy="320040"/>
          </a:xfrm>
          <a:prstGeom prst="roundRect">
            <a:avLst/>
          </a:prstGeom>
          <a:solidFill>
            <a:srgbClr val="CC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536192"/>
            <a:ext cx="29626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28090"/>
                </a:solidFill>
              </a:defRPr>
            </a:pPr>
            <a:r>
              <a:t>GRAPH-THEORETIC SELECTION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920240"/>
            <a:ext cx="2962656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50" b="1">
                <a:solidFill>
                  <a:srgbClr val="0B192C"/>
                </a:solidFill>
              </a:defRPr>
            </a:pPr>
            <a:r>
              <a:t>Bipartite Graph Topic Coverage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Constructs a topic-to-paper bipartite graph G = (U, V, E). Solves Maximum Bipartite Matching via Augmenting Path DFS to guarantee multi-topic query coverage.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371600"/>
            <a:ext cx="3328416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83880" y="1508760"/>
            <a:ext cx="3054096" cy="320040"/>
          </a:xfrm>
          <a:prstGeom prst="roundRect">
            <a:avLst/>
          </a:prstGeom>
          <a:solidFill>
            <a:srgbClr val="CC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36192"/>
            <a:ext cx="29626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28090"/>
                </a:solidFill>
              </a:defRPr>
            </a:pPr>
            <a:r>
              <a:t>EXPLAINABLE RANKING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920240"/>
            <a:ext cx="2962656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50" b="1">
                <a:solidFill>
                  <a:srgbClr val="0B192C"/>
                </a:solidFill>
              </a:defRPr>
            </a:pPr>
            <a:r>
              <a:t>Multi-Attribute Weighted Scoring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Calculates deterministic relevance scores (70% Exact + 30% Fuzzy) dynamically weighted across Paper Title (0.5), Keywords (0.3), and Abstract (0.2).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389120"/>
            <a:ext cx="10728655" cy="1828800"/>
          </a:xfrm>
          <a:prstGeom prst="roundRect">
            <a:avLst/>
          </a:prstGeom>
          <a:solidFill>
            <a:srgbClr val="0B192C"/>
          </a:solidFill>
          <a:ln w="1905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526280"/>
            <a:ext cx="10241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A896"/>
                </a:solidFill>
              </a:defRPr>
            </a:pPr>
            <a:r>
              <a:t>PROPOSED SYSTEM ADVANTAGES &amp; IMPACT</a:t>
            </a:r>
          </a:p>
          <a:p>
            <a:pPr>
              <a:spcBef>
                <a:spcPts val="300"/>
              </a:spcBef>
              <a:defRPr sz="950">
                <a:solidFill>
                  <a:srgbClr val="FFFFFF"/>
                </a:solidFill>
              </a:defRPr>
            </a:pPr>
            <a:r>
              <a:t>✔ Pure Java &amp; Zero ML Overhead: No external Python scripts or heavy neural dependencies; executes ultra-fast on any standard JVM runtime.</a:t>
            </a:r>
          </a:p>
          <a:p>
            <a:pPr>
              <a:spcBef>
                <a:spcPts val="300"/>
              </a:spcBef>
              <a:defRPr sz="950">
                <a:solidFill>
                  <a:srgbClr val="FFFFFF"/>
                </a:solidFill>
              </a:defRPr>
            </a:pPr>
            <a:r>
              <a:t>✔ High Typo &amp; Morphological Tolerance: Levenshtein DP matrix handles user spelling slips and variations with configurable distance thresholds.</a:t>
            </a:r>
          </a:p>
          <a:p>
            <a:pPr>
              <a:spcBef>
                <a:spcPts val="300"/>
              </a:spcBef>
              <a:defRPr sz="950">
                <a:solidFill>
                  <a:srgbClr val="FFFFFF"/>
                </a:solidFill>
              </a:defRPr>
            </a:pPr>
            <a:r>
              <a:t>✔ Diverse &amp; Balanced Recommendations: Maximum Bipartite Matching guarantees that papers covering distinct query facets are prioritized over duplicates.</a:t>
            </a:r>
          </a:p>
          <a:p>
            <a:pPr>
              <a:spcBef>
                <a:spcPts val="300"/>
              </a:spcBef>
              <a:defRPr sz="950">
                <a:solidFill>
                  <a:srgbClr val="FFFFFF"/>
                </a:solidFill>
              </a:defRPr>
            </a:pPr>
            <a:r>
              <a:t>✔ Fully Explainable &amp; Transparent: Provides exact mathematical match percentages and field-level attribution for every recommended paper.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914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1">
                <a:solidFill>
                  <a:srgbClr val="00A896"/>
                </a:solidFill>
              </a:defRPr>
            </a:pPr>
            <a:r>
              <a:t>STRUCTURAL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1440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300" b="1">
                <a:solidFill>
                  <a:srgbClr val="0B192C"/>
                </a:solidFill>
              </a:defRPr>
            </a:pPr>
            <a: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70432"/>
            <a:ext cx="1097280" cy="4114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 Research Paper Recommendation System  |  Review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73952"/>
            <a:ext cx="182880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50" b="1">
                <a:solidFill>
                  <a:srgbClr val="00A896"/>
                </a:solidFill>
              </a:defRPr>
            </a:pPr>
            <a:r>
              <a:t>6/10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" y="1481328"/>
            <a:ext cx="3108960" cy="658368"/>
          </a:xfrm>
          <a:prstGeom prst="round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508760"/>
            <a:ext cx="29992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A896"/>
                </a:solidFill>
              </a:defRPr>
            </a:pPr>
            <a:r>
              <a:t>1. Presentation Layer (UI / UX)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JavaFX / Swing Interface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▪  Search Query Input Bar (Keywords &amp; Topics)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▪  Dynamic Tuning Sliders (Thresholds &amp; Weights)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▪  Ranked Recommendation Results TableView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▪  GraphStream / Graphviz Bipartite Graph Canvas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▪  Paper Details Modal &amp; Relevance Breakdown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37160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98848" y="1481328"/>
            <a:ext cx="3108960" cy="658368"/>
          </a:xfrm>
          <a:prstGeom prst="round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1508760"/>
            <a:ext cx="29992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A896"/>
                </a:solidFill>
              </a:defRPr>
            </a:pPr>
            <a:r>
              <a:t>2. Core Algorithmic DSA Engine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Advanced Java Logic Tier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24028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▪  Exact Matcher: Rabin-Karp Rolling Hash (O(N+M))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▪  Fuzzy Matcher: 2D Dynamic Programming Levenshtein (O(N*M))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▪  Graph Engine: Custom Adjacency List Bipartite Graph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▪  Matching Algorithm: Augmenting Path DFS (Max Flow)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▪  Scorer &amp; Ranker: Weighted Multiplier &amp; PriorityQueue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37160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56448" y="1481328"/>
            <a:ext cx="3108960" cy="658368"/>
          </a:xfrm>
          <a:prstGeom prst="round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1508760"/>
            <a:ext cx="29992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A896"/>
                </a:solidFill>
              </a:defRPr>
            </a:pPr>
            <a:r>
              <a:t>3. Data &amp; Storage Layer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In-Memory &amp; Persistent Tier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24028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▪  Paper Ingestion Model: ID, Title, Author, Abstract, Keywords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▪  Custom In-Memory ArrayList&lt;Paper&gt; &amp; Keyword Maps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▪  JDBC Database Connector (MySQL / SQLite Storage)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▪  Preprocessed Vocabulary Token Lists &amp; Hash Indices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▪  Persistent Local Cache for Fast Retrieval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914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1">
                <a:solidFill>
                  <a:srgbClr val="00A896"/>
                </a:solidFill>
              </a:defRPr>
            </a:pPr>
            <a:r>
              <a:t>EXECUTION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1440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300" b="1">
                <a:solidFill>
                  <a:srgbClr val="0B192C"/>
                </a:solidFill>
              </a:defRPr>
            </a:pPr>
            <a:r>
              <a:t>System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70432"/>
            <a:ext cx="1097280" cy="4114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 Research Paper Recommendation System  |  Review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73952"/>
            <a:ext cx="182880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50" b="1">
                <a:solidFill>
                  <a:srgbClr val="00A896"/>
                </a:solidFill>
              </a:defRPr>
            </a:pPr>
            <a:r>
              <a:t>7/10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24231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" y="1572768"/>
            <a:ext cx="777240" cy="256032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572768"/>
            <a:ext cx="77724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901952"/>
            <a:ext cx="2148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100" b="1">
                <a:solidFill>
                  <a:srgbClr val="0B192C"/>
                </a:solidFill>
              </a:defRPr>
            </a:pPr>
            <a:r>
              <a:t>User Query Input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</a:defRPr>
            </a:pPr>
            <a:r>
              <a:t>User enters topic keywords or multi-facet search string into UI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09544" y="2377440"/>
            <a:ext cx="228600" cy="164592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93008" y="1463040"/>
            <a:ext cx="24231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02736" y="1572768"/>
            <a:ext cx="777240" cy="256032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2736" y="1572768"/>
            <a:ext cx="77724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0168" y="1901952"/>
            <a:ext cx="2148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100" b="1">
                <a:solidFill>
                  <a:srgbClr val="0B192C"/>
                </a:solidFill>
              </a:defRPr>
            </a:pPr>
            <a:r>
              <a:t>Text Preprocessing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</a:defRPr>
            </a:pPr>
            <a:r>
              <a:t>Tokenization, stopword removal, lowercase normalization &amp; cleaning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71032" y="2377440"/>
            <a:ext cx="228600" cy="164592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54496" y="1463040"/>
            <a:ext cx="2423160" cy="20574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64224" y="1572768"/>
            <a:ext cx="777240" cy="256032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1572768"/>
            <a:ext cx="77724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STEP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1901952"/>
            <a:ext cx="2148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100" b="1">
                <a:solidFill>
                  <a:srgbClr val="0B192C"/>
                </a:solidFill>
              </a:defRPr>
            </a:pPr>
            <a:r>
              <a:t>Rabin-Karp Search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</a:defRPr>
            </a:pPr>
            <a:r>
              <a:t>Exact rolling hash search across Paper Title, Keywords, and Abstract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732520" y="2377440"/>
            <a:ext cx="228600" cy="164592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015984" y="1463040"/>
            <a:ext cx="2423160" cy="20574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25712" y="1572768"/>
            <a:ext cx="777240" cy="256032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1572768"/>
            <a:ext cx="77724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53144" y="1901952"/>
            <a:ext cx="2148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100" b="1">
                <a:solidFill>
                  <a:srgbClr val="0B192C"/>
                </a:solidFill>
              </a:defRPr>
            </a:pPr>
            <a:r>
              <a:t>Edit Distance (DP)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</a:defRPr>
            </a:pPr>
            <a:r>
              <a:t>2D DP Levenshtein Matrix computes typo / fuzzy similarity scores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886200"/>
            <a:ext cx="24231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41248" y="3995928"/>
            <a:ext cx="777240" cy="256032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3995928"/>
            <a:ext cx="77724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STEP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325112"/>
            <a:ext cx="2148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100" b="1">
                <a:solidFill>
                  <a:srgbClr val="0B192C"/>
                </a:solidFill>
              </a:defRPr>
            </a:pPr>
            <a:r>
              <a:t>Relevance Scoring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</a:defRPr>
            </a:pPr>
            <a:r>
              <a:t>Weighted combination: 70% Exact Match + 30% Edit Distance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3209544" y="4800600"/>
            <a:ext cx="228600" cy="164592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493008" y="3886200"/>
            <a:ext cx="2423160" cy="20574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602736" y="3995928"/>
            <a:ext cx="777240" cy="256032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02736" y="3995928"/>
            <a:ext cx="77724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STEP 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30168" y="4325112"/>
            <a:ext cx="2148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100" b="1">
                <a:solidFill>
                  <a:srgbClr val="0B192C"/>
                </a:solidFill>
              </a:defRPr>
            </a:pPr>
            <a:r>
              <a:t>Bipartite Graph Build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</a:defRPr>
            </a:pPr>
            <a:r>
              <a:t>Constructs adjacency list graph between Topics (U) and Papers (V)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5971032" y="4800600"/>
            <a:ext cx="228600" cy="164592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254496" y="3886200"/>
            <a:ext cx="2423160" cy="20574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364224" y="3995928"/>
            <a:ext cx="777240" cy="256032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64224" y="3995928"/>
            <a:ext cx="77724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STEP 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91656" y="4325112"/>
            <a:ext cx="2148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100" b="1">
                <a:solidFill>
                  <a:srgbClr val="0B192C"/>
                </a:solidFill>
              </a:defRPr>
            </a:pPr>
            <a:r>
              <a:t>Maximum Matching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</a:defRPr>
            </a:pPr>
            <a:r>
              <a:t>Augmenting path DFS finds maximal independent topic coverage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8732520" y="4800600"/>
            <a:ext cx="228600" cy="164592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015984" y="3886200"/>
            <a:ext cx="24231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125712" y="3995928"/>
            <a:ext cx="777240" cy="256032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25712" y="3995928"/>
            <a:ext cx="77724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STEP 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53144" y="4325112"/>
            <a:ext cx="2148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100" b="1">
                <a:solidFill>
                  <a:srgbClr val="0B192C"/>
                </a:solidFill>
              </a:defRPr>
            </a:pPr>
            <a:r>
              <a:t>Ranked Recommendation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</a:defRPr>
            </a:pPr>
            <a:r>
              <a:t>Displays ranked recommendation table with scores &amp; graph visualizer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914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1">
                <a:solidFill>
                  <a:srgbClr val="00A896"/>
                </a:solidFill>
              </a:defRPr>
            </a:pPr>
            <a:r>
              <a:t>IMPLEMENTATION DETAILS •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1440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300" b="1">
                <a:solidFill>
                  <a:srgbClr val="0B192C"/>
                </a:solidFill>
              </a:defRPr>
            </a:pPr>
            <a:r>
              <a:t>Modules Implemented &amp; DSA Functions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70432"/>
            <a:ext cx="1097280" cy="4114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 Research Paper Recommendation System  |  Review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73952"/>
            <a:ext cx="182880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50" b="1">
                <a:solidFill>
                  <a:srgbClr val="00A896"/>
                </a:solidFill>
              </a:defRPr>
            </a:pPr>
            <a:r>
              <a:t>8/10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1663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192C"/>
                </a:solidFill>
              </a:defRPr>
            </a:pPr>
            <a:r>
              <a:t>MODULE 1: Paper Dataset &amp; Storage</a:t>
            </a:r>
          </a:p>
          <a:p>
            <a:pPr>
              <a:spcBef>
                <a:spcPts val="600"/>
              </a:spcBef>
              <a:defRPr sz="1050" b="1">
                <a:solidFill>
                  <a:srgbClr val="00A896"/>
                </a:solidFill>
              </a:defRPr>
            </a:pPr>
            <a:r>
              <a:t>▪ Core Functionality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Loads, parses, cleans, and stores research paper records (ID, Title, Authors, Keywords, Abstract) via CSV/JDBC.</a:t>
            </a:r>
          </a:p>
          <a:p>
            <a:pPr>
              <a:spcBef>
                <a:spcPts val="600"/>
              </a:spcBef>
              <a:defRPr sz="1050" b="1">
                <a:solidFill>
                  <a:srgbClr val="00A896"/>
                </a:solidFill>
              </a:defRPr>
            </a:pPr>
            <a:r>
              <a:t>▪ Data Structures Implemented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CustomArrayList&lt;Paper&gt;, HashMap&lt;String, List&lt;Integer&gt;&gt; (Inverted Index), Paper Entity POJOs.</a:t>
            </a:r>
          </a:p>
          <a:p>
            <a:pPr>
              <a:spcBef>
                <a:spcPts val="600"/>
              </a:spcBef>
              <a:defRPr sz="1050" b="1">
                <a:solidFill>
                  <a:srgbClr val="00A896"/>
                </a:solidFill>
              </a:defRPr>
            </a:pPr>
            <a:r>
              <a:t>▪ Key DSA Functions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loadDataset(String path): Reads &amp; parses CSV records.</a:t>
            </a:r>
            <a:br/>
            <a:r>
              <a:t>• buildInvertedIndex(): Maps keywords to Paper IDs.</a:t>
            </a:r>
            <a:br/>
            <a:r>
              <a:t>• tokenizeAndClean(String text): Stopword filter &amp; cleaner.</a:t>
            </a:r>
            <a:br/>
            <a:r>
              <a:t>• getPaperById(int id): O(1) direct lookup.</a:t>
            </a:r>
          </a:p>
          <a:p>
            <a:pPr>
              <a:spcBef>
                <a:spcPts val="600"/>
              </a:spcBef>
              <a:defRPr sz="1050" b="1">
                <a:solidFill>
                  <a:srgbClr val="00A896"/>
                </a:solidFill>
              </a:defRPr>
            </a:pPr>
            <a:r>
              <a:t>▪ Complexity Analysis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Time: O(N * L) for dataset ingestion &amp; hash construction.</a:t>
            </a:r>
            <a:br/>
            <a:r>
              <a:t>Space: O(N * L) for memory-resident indexing (N=papers, L=text length).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71600"/>
            <a:ext cx="52578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192C"/>
                </a:solidFill>
              </a:defRPr>
            </a:pPr>
            <a:r>
              <a:t>MODULE 2: Exact Search (Rabin-Karp)</a:t>
            </a:r>
          </a:p>
          <a:p>
            <a:pPr>
              <a:spcBef>
                <a:spcPts val="600"/>
              </a:spcBef>
              <a:defRPr sz="1050" b="1">
                <a:solidFill>
                  <a:srgbClr val="00A896"/>
                </a:solidFill>
              </a:defRPr>
            </a:pPr>
            <a:r>
              <a:t>▪ Core Functionality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Performs high-speed exact pattern matching across Paper Titles, Keywords, and Abstracts using a rolling hash.</a:t>
            </a:r>
          </a:p>
          <a:p>
            <a:pPr>
              <a:spcBef>
                <a:spcPts val="600"/>
              </a:spcBef>
              <a:defRPr sz="1050" b="1">
                <a:solidFill>
                  <a:srgbClr val="00A896"/>
                </a:solidFill>
              </a:defRPr>
            </a:pPr>
            <a:r>
              <a:t>▪ Data Structures Implemented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Sliding window character arrays, prime modulus accumulators, frequency hash vectors.</a:t>
            </a:r>
          </a:p>
          <a:p>
            <a:pPr>
              <a:spcBef>
                <a:spcPts val="600"/>
              </a:spcBef>
              <a:defRPr sz="1050" b="1">
                <a:solidFill>
                  <a:srgbClr val="00A896"/>
                </a:solidFill>
              </a:defRPr>
            </a:pPr>
            <a:r>
              <a:t>▪ Key DSA Functions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rabinKarpSearch(String text, String pat): Rolling hash search.</a:t>
            </a:r>
            <a:br/>
            <a:r>
              <a:t>• computeHash(String s, int len, int prime): Modular hash.</a:t>
            </a:r>
            <a:br/>
            <a:r>
              <a:t>• recalculateHash(long oldH, char oldC, char newC, long h): O(1) roll.</a:t>
            </a:r>
            <a:br/>
            <a:r>
              <a:t>• scanPaperAttributes(Paper p, String q): Multi-field exact scanner.</a:t>
            </a:r>
          </a:p>
          <a:p>
            <a:pPr>
              <a:spcBef>
                <a:spcPts val="600"/>
              </a:spcBef>
              <a:defRPr sz="1050" b="1">
                <a:solidFill>
                  <a:srgbClr val="00A896"/>
                </a:solidFill>
              </a:defRPr>
            </a:pPr>
            <a:r>
              <a:t>▪ Complexity Analysis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Average Time: O(N + M) linear pattern matching.</a:t>
            </a:r>
            <a:br/>
            <a:r>
              <a:t>Worst Case: O(N * M) (mitigated via large prime modulus).</a:t>
            </a:r>
            <a:br/>
            <a:r>
              <a:t>Space: O(1) auxiliary memory.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914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1">
                <a:solidFill>
                  <a:srgbClr val="00A896"/>
                </a:solidFill>
              </a:defRPr>
            </a:pPr>
            <a:r>
              <a:t>IMPLEMENTATION DETAILS • 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1440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300" b="1">
                <a:solidFill>
                  <a:srgbClr val="0B192C"/>
                </a:solidFill>
              </a:defRPr>
            </a:pPr>
            <a:r>
              <a:t>Modules Implemented &amp; DSA Functions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70432"/>
            <a:ext cx="1097280" cy="4114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 Research Paper Recommendation System  |  Review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73952"/>
            <a:ext cx="182880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50" b="1">
                <a:solidFill>
                  <a:srgbClr val="00A896"/>
                </a:solidFill>
              </a:defRPr>
            </a:pPr>
            <a:r>
              <a:t>9/10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1663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192C"/>
                </a:solidFill>
              </a:defRPr>
            </a:pPr>
            <a:r>
              <a:t>MODULE 3: Similarity Engine (Edit Distance DP)</a:t>
            </a:r>
          </a:p>
          <a:p>
            <a:pPr>
              <a:spcBef>
                <a:spcPts val="600"/>
              </a:spcBef>
              <a:defRPr sz="1050" b="1">
                <a:solidFill>
                  <a:srgbClr val="00A896"/>
                </a:solidFill>
              </a:defRPr>
            </a:pPr>
            <a:r>
              <a:t>▪ Core Functionality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Computes minimum Levenshtein edit operations (insert, delete, substitute) to detect typos, plurals, and fuzzy keyword matches.</a:t>
            </a:r>
          </a:p>
          <a:p>
            <a:pPr>
              <a:spcBef>
                <a:spcPts val="600"/>
              </a:spcBef>
              <a:defRPr sz="1050" b="1">
                <a:solidFill>
                  <a:srgbClr val="00A896"/>
                </a:solidFill>
              </a:defRPr>
            </a:pPr>
            <a:r>
              <a:t>▪ Data Structures Implemented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2D Dynamic Programming matrix int[][] dp, normalized similarity vectors.</a:t>
            </a:r>
          </a:p>
          <a:p>
            <a:pPr>
              <a:spcBef>
                <a:spcPts val="600"/>
              </a:spcBef>
              <a:defRPr sz="1050" b="1">
                <a:solidFill>
                  <a:srgbClr val="00A896"/>
                </a:solidFill>
              </a:defRPr>
            </a:pPr>
            <a:r>
              <a:t>▪ Key DSA Functions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minEditDistance(String s1, String s2): Levenshtein DP.</a:t>
            </a:r>
            <a:br/>
            <a:r>
              <a:t>• computeDPMatrix(char[] str1, char[] str2): Tabulation logic.</a:t>
            </a:r>
            <a:br/>
            <a:r>
              <a:t>• calculateSimilarityScore(int dist, int maxLen): Normalized score.</a:t>
            </a:r>
            <a:br/>
            <a:r>
              <a:t>• fuzzyMatchKeyword(String query, List&lt;String&gt; kws): Threshold filter.</a:t>
            </a:r>
          </a:p>
          <a:p>
            <a:pPr>
              <a:spcBef>
                <a:spcPts val="600"/>
              </a:spcBef>
              <a:defRPr sz="1050" b="1">
                <a:solidFill>
                  <a:srgbClr val="00A896"/>
                </a:solidFill>
              </a:defRPr>
            </a:pPr>
            <a:r>
              <a:t>▪ Complexity Analysis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Time Complexity: O(M * N) per term comparison.</a:t>
            </a:r>
            <a:br/>
            <a:r>
              <a:t>Space Complexity: O(M * N) tabular memory (optimizable to O(min(M, N))).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71600"/>
            <a:ext cx="52578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192C"/>
                </a:solidFill>
              </a:defRPr>
            </a:pPr>
            <a:r>
              <a:t>MODULE 4: Graph Recommendation &amp; Matching</a:t>
            </a:r>
          </a:p>
          <a:p>
            <a:pPr>
              <a:spcBef>
                <a:spcPts val="600"/>
              </a:spcBef>
              <a:defRPr sz="1050" b="1">
                <a:solidFill>
                  <a:srgbClr val="00A896"/>
                </a:solidFill>
              </a:defRPr>
            </a:pPr>
            <a:r>
              <a:t>▪ Core Functionality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Models search as Bipartite Graph G = (U, V, E) where U=Topics, V=Papers. Maximizes topic coverage via Augmenting Path DFS.</a:t>
            </a:r>
          </a:p>
          <a:p>
            <a:pPr>
              <a:spcBef>
                <a:spcPts val="600"/>
              </a:spcBef>
              <a:defRPr sz="1050" b="1">
                <a:solidFill>
                  <a:srgbClr val="00A896"/>
                </a:solidFill>
              </a:defRPr>
            </a:pPr>
            <a:r>
              <a:t>▪ Data Structures Implemented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Custom Adjacency List List&lt;Integer&gt;[] adjList, int[] matchR assignment array, boolean[] visited.</a:t>
            </a:r>
          </a:p>
          <a:p>
            <a:pPr>
              <a:spcBef>
                <a:spcPts val="600"/>
              </a:spcBef>
              <a:defRPr sz="1050" b="1">
                <a:solidFill>
                  <a:srgbClr val="00A896"/>
                </a:solidFill>
              </a:defRPr>
            </a:pPr>
            <a:r>
              <a:t>▪ Key DSA Functions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buildBipartiteGraph(List&lt;Topic&gt; T, List&lt;Paper&gt; P): Graph builder.</a:t>
            </a:r>
            <a:br/>
            <a:r>
              <a:t>• boolean bpmDFS(int u, boolean[] seen, int[] matchR): Augmenting DFS.</a:t>
            </a:r>
            <a:br/>
            <a:r>
              <a:t>• maxBipartiteMatching(int U, int V): Computes maximum cardinality.</a:t>
            </a:r>
            <a:br/>
            <a:r>
              <a:t>• extractRecommendedSet(int[] matchR): Returns optimal papers.</a:t>
            </a:r>
          </a:p>
          <a:p>
            <a:pPr>
              <a:spcBef>
                <a:spcPts val="600"/>
              </a:spcBef>
              <a:defRPr sz="1050" b="1">
                <a:solidFill>
                  <a:srgbClr val="00A896"/>
                </a:solidFill>
              </a:defRPr>
            </a:pPr>
            <a:r>
              <a:t>▪ Complexity Analysis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Time Complexity: O(V * E) with Augmenting Path DFS.</a:t>
            </a:r>
            <a:br/>
            <a:r>
              <a:t>Space Complexity: O(V + E) for adjacency list representation.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914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1">
                <a:solidFill>
                  <a:srgbClr val="00A896"/>
                </a:solidFill>
              </a:defRPr>
            </a:pPr>
            <a:r>
              <a:t>SCORING &amp; STATUS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1440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300" b="1">
                <a:solidFill>
                  <a:srgbClr val="0B192C"/>
                </a:solidFill>
              </a:defRPr>
            </a:pPr>
            <a:r>
              <a:t>Module 5: Scoring, Ranking &amp; Review 2 Status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70432"/>
            <a:ext cx="1097280" cy="4114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 Research Paper Recommendation System  |  Review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73952"/>
            <a:ext cx="182880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50" b="1">
                <a:solidFill>
                  <a:srgbClr val="00A896"/>
                </a:solidFill>
              </a:defRPr>
            </a:pPr>
            <a:r>
              <a:t>10/10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1663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192C"/>
                </a:solidFill>
              </a:defRPr>
            </a:pPr>
            <a:r>
              <a:t>MODULE 5: Scoring &amp; Result Display</a:t>
            </a:r>
          </a:p>
          <a:p>
            <a:pPr>
              <a:spcBef>
                <a:spcPts val="600"/>
              </a:spcBef>
              <a:defRPr sz="1050" b="1">
                <a:solidFill>
                  <a:srgbClr val="00A896"/>
                </a:solidFill>
              </a:defRPr>
            </a:pPr>
            <a:r>
              <a:t>▪ Composite Scoring Mathematical Model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Final Score = (0.70 × Rabin-Karp Exact Score) + (0.30 × Edit Distance Score)</a:t>
            </a:r>
            <a:br/>
            <a:r>
              <a:t>• Title Match: Highest Weight (0.50)</a:t>
            </a:r>
            <a:br/>
            <a:r>
              <a:t>• Keywords Match: Medium Weight (0.30)</a:t>
            </a:r>
            <a:br/>
            <a:r>
              <a:t>• Abstract Match: Lower Weight (0.20)</a:t>
            </a:r>
          </a:p>
          <a:p>
            <a:pPr>
              <a:spcBef>
                <a:spcPts val="600"/>
              </a:spcBef>
              <a:defRPr sz="1050" b="1">
                <a:solidFill>
                  <a:srgbClr val="00A896"/>
                </a:solidFill>
              </a:defRPr>
            </a:pPr>
            <a:r>
              <a:t>▪ DSA &amp; Sorting Functions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PriorityQueue&lt;PaperScore&gt; (Max-Heap) for top-K extraction in O(N log K).</a:t>
            </a:r>
            <a:br/>
            <a:r>
              <a:t>• QuickSort / MergeSort for complete ranking in O(N log N).</a:t>
            </a:r>
            <a:br/>
            <a:r>
              <a:t>• calculateRelevanceScore(Paper p, Query q).</a:t>
            </a:r>
          </a:p>
          <a:p>
            <a:pPr>
              <a:spcBef>
                <a:spcPts val="600"/>
              </a:spcBef>
              <a:defRPr sz="1050" b="1">
                <a:solidFill>
                  <a:srgbClr val="00A896"/>
                </a:solidFill>
              </a:defRPr>
            </a:pPr>
            <a:r>
              <a:t>▪ UI Presentation &amp; TableView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Binds ranked objects to JavaFX TableView: Rank, Title, Author, Matched Terms, and Composite Score (%).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71600"/>
            <a:ext cx="5257800" cy="4846320"/>
          </a:xfrm>
          <a:prstGeom prst="roundRect">
            <a:avLst/>
          </a:prstGeom>
          <a:solidFill>
            <a:srgbClr val="0B192C"/>
          </a:solidFill>
          <a:ln w="1905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896"/>
                </a:solidFill>
              </a:defRPr>
            </a:pPr>
            <a:r>
              <a:t>REVIEW 2 IMPLEMENTATION SUMMARY</a:t>
            </a:r>
          </a:p>
          <a:p>
            <a:pPr>
              <a:spcBef>
                <a:spcPts val="600"/>
              </a:spcBef>
              <a:defRPr sz="1050" b="1">
                <a:solidFill>
                  <a:srgbClr val="00A896"/>
                </a:solidFill>
              </a:defRPr>
            </a:pPr>
            <a:r>
              <a:t>• Current Progress Completed (Review 2)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✔ Dataset ingestion &amp; inverted index parsing fully operational.</a:t>
            </a:r>
            <a:br/>
            <a:r>
              <a:t>✔ Rabin-Karp exact search validated across multiple test queries.</a:t>
            </a:r>
            <a:br/>
            <a:r>
              <a:t>✔ Levenshtein DP edit distance matrix working with typo test cases.</a:t>
            </a:r>
            <a:br/>
            <a:r>
              <a:t>✔ Bipartite Graph adjacency list &amp; Augmenting Path DFS integrated.</a:t>
            </a:r>
          </a:p>
          <a:p>
            <a:pPr>
              <a:spcBef>
                <a:spcPts val="600"/>
              </a:spcBef>
              <a:defRPr sz="1050" b="1">
                <a:solidFill>
                  <a:srgbClr val="00A896"/>
                </a:solidFill>
              </a:defRPr>
            </a:pPr>
            <a:r>
              <a:t>• Performance Metrics Observed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Execution latency &lt; 50ms for multi-topic query recommendations.</a:t>
            </a:r>
            <a:br/>
            <a:r>
              <a:t>• Zero external AI library dependencies; 100% pure Java DSA.</a:t>
            </a:r>
          </a:p>
          <a:p>
            <a:pPr>
              <a:spcBef>
                <a:spcPts val="600"/>
              </a:spcBef>
              <a:defRPr sz="1050" b="1">
                <a:solidFill>
                  <a:srgbClr val="00A896"/>
                </a:solidFill>
              </a:defRPr>
            </a:pPr>
            <a:r>
              <a:t>• Roadmap to Final Review (Review 3)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Complete JavaFX GUI &amp; GraphStream visualization canvas.</a:t>
            </a:r>
            <a:br/>
            <a:r>
              <a:t>• Large-scale benchmark evaluation &amp; accuracy metrics.</a:t>
            </a:r>
            <a:br/>
            <a:r>
              <a:t>• Final project report, comprehensive documentation, and live demo.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