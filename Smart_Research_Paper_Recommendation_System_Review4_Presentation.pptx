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34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73152"/>
            <a:ext cx="158191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457200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82296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3327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896112"/>
            <a:ext cx="9052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Smart Research Paper</a:t>
            </a:r>
            <a:br/>
            <a:r>
              <a:t>Recommendation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96596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ptos"/>
              </a:defRPr>
            </a:pPr>
            <a:r>
              <a:t>A DSA-driven research discovery and ranking system using string matching, information retrieval and graph algorithms.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2788920"/>
            <a:ext cx="1417320" cy="384048"/>
          </a:xfrm>
          <a:prstGeom prst="roundRect">
            <a:avLst/>
          </a:prstGeom>
          <a:solidFill>
            <a:srgbClr val="1E2D48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56816" y="2852928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Rabin-Karp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788920"/>
            <a:ext cx="1645920" cy="384048"/>
          </a:xfrm>
          <a:prstGeom prst="roundRect">
            <a:avLst/>
          </a:prstGeom>
          <a:solidFill>
            <a:srgbClr val="1E2D48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852928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Levenshtein 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4648" y="2788920"/>
            <a:ext cx="1645920" cy="384048"/>
          </a:xfrm>
          <a:prstGeom prst="roundRect">
            <a:avLst/>
          </a:prstGeom>
          <a:solidFill>
            <a:srgbClr val="1E2D48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852928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TF-IDF + Cosine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0296" y="2788920"/>
            <a:ext cx="1417320" cy="384048"/>
          </a:xfrm>
          <a:prstGeom prst="roundRect">
            <a:avLst/>
          </a:prstGeom>
          <a:solidFill>
            <a:srgbClr val="1E2D48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59" y="2852928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PageRank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7344" y="2788920"/>
            <a:ext cx="1645920" cy="384048"/>
          </a:xfrm>
          <a:prstGeom prst="roundRect">
            <a:avLst/>
          </a:prstGeom>
          <a:solidFill>
            <a:srgbClr val="1E2D48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852928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Bipartite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22992" y="2788920"/>
            <a:ext cx="1645920" cy="384048"/>
          </a:xfrm>
          <a:prstGeom prst="roundRect">
            <a:avLst/>
          </a:prstGeom>
          <a:solidFill>
            <a:srgbClr val="1E2D48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77856" y="2852928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PriorityQueue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379476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Aptos"/>
              </a:defRPr>
            </a:pPr>
            <a:r>
              <a:t>REVIEW 4 • WORKING WEB DEMONSTRATION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50749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Pure Java backend • CSV research dataset • Browser-based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58978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Aptos"/>
              </a:defRPr>
            </a:pPr>
            <a:r>
              <a:t>Exact → Fuzzy → Vector Similarity → Graph Authority → Matching → Top-K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Problem, Objective &amp; Key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4663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Researchers often need to search large collections using multiple topics. A keyword-only approach can miss fuzzy matches, term importance, and graph-based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Return relevant papers for one or multiple research topics.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Combine multiple DSA techniques into one ranking pipeline.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Provide explainable scores instead of a black-box recommendation.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Assign distinct papers to topics using weighted bipartite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22392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ptos"/>
              </a:defRPr>
            </a:pPr>
            <a:r>
              <a:t>What makes the system different?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48840"/>
            <a:ext cx="4892040" cy="7498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2585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Exact + Fuzzy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22199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72033"/>
                </a:solidFill>
                <a:latin typeface="Aptos"/>
              </a:defRPr>
            </a:pPr>
            <a:r>
              <a:t>Rabin-Karp and Levenshtein handle literal and typo-tolerant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17520"/>
            <a:ext cx="4892040" cy="749808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12724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Aptos"/>
              </a:defRPr>
            </a:pPr>
            <a:r>
              <a:t>Information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09067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72033"/>
                </a:solidFill>
                <a:latin typeface="Aptos"/>
              </a:defRPr>
            </a:pPr>
            <a:r>
              <a:t>TF-IDF and cosine similarity capture term importance and vector similarity.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86200"/>
            <a:ext cx="4892040" cy="749808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99592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Aptos"/>
              </a:defRPr>
            </a:pPr>
            <a:r>
              <a:t>Graph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95935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72033"/>
                </a:solidFill>
                <a:latin typeface="Aptos"/>
              </a:defRPr>
            </a:pPr>
            <a:r>
              <a:t>PageRank adds authority from the paper citation graph.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754880"/>
            <a:ext cx="4892040" cy="7498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86460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8280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72033"/>
                </a:solidFill>
                <a:latin typeface="Aptos"/>
              </a:defRPr>
            </a:pPr>
            <a:r>
              <a:t>DFS-based bipartite matching + PriorityQueue produces topic coverage and Top-K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Aptos"/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System Architecture &amp;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166420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373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609344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Aptos"/>
              </a:defRPr>
            </a:pPr>
            <a:r>
              <a:t>User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90195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Topics entered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150876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51176" y="1664208"/>
            <a:ext cx="347472" cy="34747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17373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609344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90195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Normalize + tokenize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50876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9704" y="1664208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17373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1609344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Aptos"/>
              </a:defRPr>
            </a:pPr>
            <a:r>
              <a:t>String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190195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Rabin-Karp + Levenshtein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8504" y="150876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2" y="1664208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17373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1609344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190195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TF-IDF + Cosine + PageRank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7032" y="150876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1664208"/>
            <a:ext cx="347472" cy="34747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17373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1609344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190195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Weighted DFS augmenting paths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150876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05288" y="166420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05288" y="17373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5912" y="1609344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Aptos"/>
              </a:defRPr>
            </a:pPr>
            <a:r>
              <a:t>Top-K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5912" y="190195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PriorityQueue +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2971800"/>
            <a:ext cx="1097280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2004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365760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6576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00507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4005072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Java HttpServer • REST-style /api/search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352544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ptos"/>
              </a:defRPr>
            </a:pPr>
            <a:r>
              <a:t>Core DSA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4352544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Algorithms.java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70001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70001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research_papers.csv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04748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504748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Maven • Java 21 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6118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ptos"/>
              </a:defRPr>
            </a:pPr>
            <a:r>
              <a:t>Runtime Result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9776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Search endpoint scores every paper.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Matching assigns distinct papers to topics.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Top-K returns the strongest recommendations.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Dashboard exposes every score component.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ALGORITHM 1 &amp;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String Matching: Exact + Fuzzy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4068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Rabin-Karp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Uses rolling hashes to locate exact topic occurrences efficiently.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4937760" cy="288036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24328"/>
            <a:ext cx="46085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4608576" cy="2377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long ph = 0, th = 0;</a:t>
            </a:r>
            <a:br/>
            <a:r>
              <a:t>long h = 1;</a:t>
            </a:r>
            <a:br/>
            <a:br/>
            <a:r>
              <a:t>for (int i = 0; i &lt; m - 1; i++)</a:t>
            </a:r>
            <a:br/>
            <a:r>
              <a:t>    h = (h * BASE) % MOD;</a:t>
            </a:r>
            <a:br/>
            <a:br/>
            <a:r>
              <a:t>for (int i = 0; i &lt; m; i++) {</a:t>
            </a:r>
            <a:br/>
            <a:r>
              <a:t>    ph = (BASE * ph + pattern.charAt(i)) % MOD;</a:t>
            </a:r>
            <a:br/>
            <a:r>
              <a:t>    th = (BASE * th + text.charAt(i)) % MOD;</a:t>
            </a:r>
            <a:br/>
            <a:r>
              <a:t>}</a:t>
            </a:r>
            <a:br/>
            <a:br/>
            <a:r>
              <a:t>if (ph == th &amp;&amp;</a:t>
            </a:r>
            <a:br/>
            <a:r>
              <a:t>    text.regionMatches(i, pattern, 0, m))</a:t>
            </a:r>
            <a:br/>
            <a:r>
              <a:t>    return i;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Average: O(N + M) • Exact field-level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422392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Aptos"/>
              </a:defRPr>
            </a:pPr>
            <a:r>
              <a:t>Levenshtein Dynamic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Measures edit distance so near-matches and spelling variations are still considered.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14600"/>
            <a:ext cx="4937760" cy="288036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624328"/>
            <a:ext cx="46085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C3AED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926080"/>
            <a:ext cx="4608576" cy="2377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69">
                <a:solidFill>
                  <a:srgbClr val="E2E8F0"/>
                </a:solidFill>
                <a:latin typeface="Consolas"/>
              </a:defRPr>
            </a:pPr>
            <a:r>
              <a:t>int[][] dp = new int[a.length()+1][b.length()+1];</a:t>
            </a:r>
            <a:br/>
            <a:br/>
            <a:r>
              <a:t>for (int i = 0; i &lt;= a.length(); i++)</a:t>
            </a:r>
            <a:br/>
            <a:r>
              <a:t>    dp[i][0] = i;</a:t>
            </a:r>
            <a:br/>
            <a:br/>
            <a:r>
              <a:t>for (int j = 0; j &lt;= b.length(); j++)</a:t>
            </a:r>
            <a:br/>
            <a:r>
              <a:t>    dp[0][j] = j;</a:t>
            </a:r>
            <a:br/>
            <a:br/>
            <a:r>
              <a:t>for (int i = 1; i &lt;= a.length(); i++) {</a:t>
            </a:r>
            <a:br/>
            <a:r>
              <a:t>    for (int j = 1; j &lt;= b.length(); j++) {</a:t>
            </a:r>
            <a:br/>
            <a:r>
              <a:t>        int cost = a.charAt(i-1) == b.charAt(j-1) ? 0 : 1;</a:t>
            </a:r>
            <a:br/>
            <a:r>
              <a:t>        dp[i][j] = Math.min(</a:t>
            </a:r>
            <a:br/>
            <a:r>
              <a:t>            Math.min(dp[i-1][j] + 1,</a:t>
            </a:r>
            <a:br/>
            <a:r>
              <a:t>                     dp[i][j-1] + 1),</a:t>
            </a:r>
            <a:br/>
            <a:r>
              <a:t>            dp[i-1][j-1] + cost</a:t>
            </a:r>
            <a:br/>
            <a:r>
              <a:t>        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623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Complexity: O(MN) • Converted to fuzzy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6A34A"/>
                </a:solidFill>
                <a:latin typeface="Aptos"/>
              </a:defRPr>
            </a:pPr>
            <a:r>
              <a:t>ALGORITHM 3 &amp;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Information Retrieval: TF-IDF + Cosine Similarity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8640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A34A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Weights terms by local frequency and how rare they are across the paper collection.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4983480" cy="233172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24328"/>
            <a:ext cx="4654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6A34A"/>
                </a:solidFill>
                <a:latin typeface="Aptos"/>
              </a:defRPr>
            </a:pPr>
            <a:r>
              <a:t>CORE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4654296" cy="18287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double tf = (double) termCount / totalTerms;</a:t>
            </a:r>
            <a:br/>
            <a:br/>
            <a:r>
              <a:t>double idf =</a:t>
            </a:r>
            <a:br/>
            <a:r>
              <a:t>    Math.log((N + 1.0) / (df + 1.0)) + 1.0;</a:t>
            </a:r>
            <a:br/>
            <a:br/>
            <a:r>
              <a:t>double weight = tf * idf;</a:t>
            </a:r>
            <a:br/>
            <a:br/>
            <a:r>
              <a:t>vector.put(term, weight);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The implementation builds TF-IDF vectors for all papers and a query vector for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330952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891B2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01952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Compares the angle between query and paper vectors.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514600"/>
            <a:ext cx="4846320" cy="265176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2624328"/>
            <a:ext cx="4517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91B2"/>
                </a:solidFill>
                <a:latin typeface="Aptos"/>
              </a:defRPr>
            </a:pPr>
            <a:r>
              <a:t>CORE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2926080"/>
            <a:ext cx="4517136" cy="2148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double dot = 0.0;</a:t>
            </a:r>
            <a:br/>
            <a:r>
              <a:t>double normA = 0.0;</a:t>
            </a:r>
            <a:br/>
            <a:r>
              <a:t>double normB = 0.0;</a:t>
            </a:r>
            <a:br/>
            <a:br/>
            <a:r>
              <a:t>for (String term : a.keySet()) {</a:t>
            </a:r>
            <a:br/>
            <a:r>
              <a:t>    double x = a.get(term);</a:t>
            </a:r>
            <a:br/>
            <a:r>
              <a:t>    double y = b.getOrDefault(term, 0.0);</a:t>
            </a:r>
            <a:br/>
            <a:br/>
            <a:r>
              <a:t>    dot += x * y;</a:t>
            </a:r>
            <a:br/>
            <a:r>
              <a:t>    normA += x * x;</a:t>
            </a:r>
            <a:br/>
            <a:r>
              <a:t>    normB += y * y;</a:t>
            </a:r>
            <a:br/>
            <a:r>
              <a:t>}</a:t>
            </a:r>
            <a:br/>
            <a:br/>
            <a:r>
              <a:t>return dot /</a:t>
            </a:r>
            <a:br/>
            <a:r>
              <a:t>    (Math.sqrt(normA) * Math.sqrt(normB));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394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Output: normalized similarity contribution used in the final recommendation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A580C"/>
                </a:solidFill>
                <a:latin typeface="Aptos"/>
              </a:defRPr>
            </a:pPr>
            <a:r>
              <a:t>ALGORITHM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Graph Authority: PageRank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40080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A580C"/>
                </a:solidFill>
                <a:latin typeface="Aptos"/>
              </a:defRPr>
            </a:pPr>
            <a:r>
              <a:t>PageRank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paper starts with an initial rank and repeatedly receives rank from linked papers.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5852160" cy="315468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24328"/>
            <a:ext cx="5522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A580C"/>
                </a:solidFill>
                <a:latin typeface="Aptos"/>
              </a:defRPr>
            </a:pPr>
            <a:r>
              <a:t>CORE GRAPH RANKING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5522976" cy="265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19">
                <a:solidFill>
                  <a:srgbClr val="E2E8F0"/>
                </a:solidFill>
                <a:latin typeface="Consolas"/>
              </a:defRPr>
            </a:pPr>
            <a:r>
              <a:t>Map&lt;String,Double&gt; rank = new HashMap&lt;&gt;();</a:t>
            </a:r>
            <a:br/>
            <a:br/>
            <a:r>
              <a:t>for (Paper p : papers)</a:t>
            </a:r>
            <a:br/>
            <a:r>
              <a:t>    rank.put(p.id, 1.0 / papers.size());</a:t>
            </a:r>
            <a:br/>
            <a:br/>
            <a:r>
              <a:t>for (int iter = 0; iter &lt; 20; iter++) {</a:t>
            </a:r>
            <a:br/>
            <a:r>
              <a:t>    Map&lt;String,Double&gt; next = new HashMap&lt;&gt;();</a:t>
            </a:r>
            <a:br/>
            <a:br/>
            <a:r>
              <a:t>    for (Paper p : papers) {</a:t>
            </a:r>
            <a:br/>
            <a:r>
              <a:t>        double incoming = 0.0;</a:t>
            </a:r>
            <a:br/>
            <a:br/>
            <a:r>
              <a:t>        for (Paper q : papers) {</a:t>
            </a:r>
            <a:br/>
            <a:r>
              <a:t>            if (graph.getOrDefault(q.id, List.of())</a:t>
            </a:r>
            <a:br/>
            <a:r>
              <a:t>                    .contains(p.id)) {</a:t>
            </a:r>
            <a:br/>
            <a:r>
              <a:t>                int out = Math.max(1,</a:t>
            </a:r>
            <a:br/>
            <a:r>
              <a:t>                    graph.getOrDefault(q.id, List.of()).size());</a:t>
            </a:r>
            <a:br/>
            <a:br/>
            <a:r>
              <a:t>                incoming += rank.get(q.id) / out;</a:t>
            </a:r>
            <a:br/>
            <a:r>
              <a:t>            }</a:t>
            </a:r>
            <a:br/>
            <a:r>
              <a:t>        }</a:t>
            </a:r>
            <a:br/>
            <a:br/>
            <a:r>
              <a:t>        next.put(p.id,</a:t>
            </a:r>
            <a:br/>
            <a:r>
              <a:t>            (1.0 - DAMPING) / papers.size()</a:t>
            </a:r>
            <a:br/>
            <a:r>
              <a:t>            + DAMPING * incoming);</a:t>
            </a:r>
            <a:br/>
            <a:r>
              <a:t>    }</a:t>
            </a:r>
            <a:br/>
            <a:br/>
            <a:r>
              <a:t>    rank = next;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Output: normalized authority score used as the 10% PageRank component.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325880"/>
            <a:ext cx="4370832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5544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ptos"/>
              </a:defRPr>
            </a:pPr>
            <a:r>
              <a:t>Why PageRank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11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• Rewards papers connected to influential papers.</a:t>
            </a:r>
          </a:p>
          <a:p>
            <a:pPr>
              <a:spcAft>
                <a:spcPts val="6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• Adds graph structure beyond text similarity.</a:t>
            </a:r>
          </a:p>
          <a:p>
            <a:pPr>
              <a:spcAft>
                <a:spcPts val="6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• Helps separate equally relevant textual matches.</a:t>
            </a:r>
          </a:p>
          <a:p>
            <a:pPr>
              <a:spcAft>
                <a:spcPts val="6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• Makes the final ranking multi-dimensional.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977639"/>
            <a:ext cx="3611880" cy="14173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187952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Aptos"/>
              </a:defRPr>
            </a:pPr>
            <a:r>
              <a:t>Implementation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498848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72033"/>
                </a:solidFill>
                <a:latin typeface="Aptos"/>
              </a:defRPr>
            </a:pPr>
            <a:r>
              <a:t>The current demo uses a modeled/prototype citation graph derived from the dataset relationships.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Aptos"/>
              </a:defRPr>
            </a:pPr>
            <a:r>
              <a:t>ALGORITHM 6 &amp;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Optimization: Bipartite Matching + PriorityQueue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6692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ptos"/>
              </a:defRPr>
            </a:pPr>
            <a:r>
              <a:t>Weighted DFS / Augmenting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4748B"/>
                </a:solidFill>
                <a:latin typeface="Aptos"/>
              </a:defRPr>
            </a:pPr>
            <a:r>
              <a:t>Topics form the left partition and papers form the right partition. Each topic seeks a strong distinct paper.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5166360" cy="288036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24328"/>
            <a:ext cx="4837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C3AED"/>
                </a:solidFill>
                <a:latin typeface="Aptos"/>
              </a:defRPr>
            </a:pPr>
            <a:r>
              <a:t>AUGMENTING-PATH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4837176" cy="2377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869">
                <a:solidFill>
                  <a:srgbClr val="E2E8F0"/>
                </a:solidFill>
                <a:latin typeface="Consolas"/>
              </a:defRPr>
            </a:pPr>
            <a:r>
              <a:t>boolean dfs(int topic,</a:t>
            </a:r>
            <a:br/>
            <a:r>
              <a:t>                    boolean[] seen,</a:t>
            </a:r>
            <a:br/>
            <a:r>
              <a:t>                    int[] matchPaper) {</a:t>
            </a:r>
            <a:br/>
            <a:br/>
            <a:r>
              <a:t>    for (int p = 0; p &lt; papers.size(); p++) {</a:t>
            </a:r>
            <a:br/>
            <a:br/>
            <a:r>
              <a:t>        if (relevance[topic][p] &lt; threshold</a:t>
            </a:r>
            <a:br/>
            <a:r>
              <a:t>                || seen[p])</a:t>
            </a:r>
            <a:br/>
            <a:r>
              <a:t>            continue;</a:t>
            </a:r>
            <a:br/>
            <a:br/>
            <a:r>
              <a:t>        seen[p] = true;</a:t>
            </a:r>
            <a:br/>
            <a:br/>
            <a:r>
              <a:t>        if (matchPaper[p] == -1 ||</a:t>
            </a:r>
            <a:br/>
            <a:r>
              <a:t>            dfs(matchPaper[p], seen, matchPaper)) {</a:t>
            </a:r>
            <a:br/>
            <a:br/>
            <a:r>
              <a:t>            matchPaper[p] = topic;</a:t>
            </a:r>
            <a:br/>
            <a:r>
              <a:t>            return true;</a:t>
            </a:r>
            <a:br/>
            <a:r>
              <a:t>        }</a:t>
            </a:r>
            <a:br/>
            <a:r>
              <a:t>    }</a:t>
            </a:r>
            <a:br/>
            <a:br/>
            <a:r>
              <a:t>    return false;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50992"/>
            <a:ext cx="5074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Complexity: O(VE) for bipartite matching.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25880"/>
            <a:ext cx="5093208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5544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Aptos"/>
              </a:defRPr>
            </a:pPr>
            <a:r>
              <a:t>PriorityQueue Top-K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965960"/>
            <a:ext cx="4526280" cy="2880360"/>
          </a:xfrm>
          <a:prstGeom prst="roundRect">
            <a:avLst/>
          </a:prstGeom>
          <a:solidFill>
            <a:srgbClr val="121926"/>
          </a:solidFill>
          <a:ln w="10160">
            <a:solidFill>
              <a:srgbClr val="121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2075688"/>
            <a:ext cx="41970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F46E5"/>
                </a:solidFill>
                <a:latin typeface="Aptos"/>
              </a:defRPr>
            </a:pPr>
            <a:r>
              <a:t>TOP-K RANKING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2377440"/>
            <a:ext cx="4197096" cy="2377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910">
                <a:solidFill>
                  <a:srgbClr val="E2E8F0"/>
                </a:solidFill>
                <a:latin typeface="Consolas"/>
              </a:defRPr>
            </a:pPr>
            <a:r>
              <a:t>PriorityQueue&lt;Paper&gt; pq =</a:t>
            </a:r>
            <a:br/>
            <a:r>
              <a:t>    new PriorityQueue&lt;&gt;(</a:t>
            </a:r>
            <a:br/>
            <a:r>
              <a:t>        Comparator.comparingDouble(</a:t>
            </a:r>
            <a:br/>
            <a:r>
              <a:t>            p -&gt; p.score</a:t>
            </a:r>
            <a:br/>
            <a:r>
              <a:t>        )</a:t>
            </a:r>
            <a:br/>
            <a:r>
              <a:t>    );</a:t>
            </a:r>
            <a:br/>
            <a:br/>
            <a:r>
              <a:t>for (Paper p : papers) {</a:t>
            </a:r>
            <a:br/>
            <a:r>
              <a:t>    pq.offer(p);</a:t>
            </a:r>
            <a:br/>
            <a:br/>
            <a:r>
              <a:t>    if (pq.size() &gt; k)</a:t>
            </a:r>
            <a:br/>
            <a:r>
              <a:t>        pq.poll();</a:t>
            </a:r>
            <a:br/>
            <a:r>
              <a:t>}</a:t>
            </a:r>
            <a:br/>
            <a:br/>
            <a:r>
              <a:t>List&lt;Paper&gt; result = new ArrayList&lt;&gt;();</a:t>
            </a:r>
            <a:br/>
            <a:br/>
            <a:r>
              <a:t>while (!pq.isEmpty())</a:t>
            </a:r>
            <a:br/>
            <a:r>
              <a:t>    result.add(pq.poll());</a:t>
            </a:r>
            <a:br/>
            <a:br/>
            <a:r>
              <a:t>Collections.reverse(result);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120640"/>
            <a:ext cx="4434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Aptos"/>
              </a:defRPr>
            </a:pPr>
            <a:r>
              <a:t>Keeps only the strongest K papers instead of sorting the entire result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7150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Complexity: O(N log 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FINAL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Composite Ranking Formula &amp; Complexity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13258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FINAL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72033"/>
                </a:solidFill>
                <a:latin typeface="Aptos"/>
              </a:defRPr>
            </a:pPr>
            <a:r>
              <a:t>0.45 × Exact  +  0.20 × Fuzzy  +  0.25 × TF-IDF/Cosine  +  0.10 × PageRank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71800"/>
            <a:ext cx="256032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1821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ptos"/>
              </a:defRPr>
            </a:pPr>
            <a: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272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033"/>
                </a:solidFill>
                <a:latin typeface="Aptos"/>
              </a:defRPr>
            </a:pPr>
            <a:r>
              <a:t>Exact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Rabin-Karp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2971800"/>
            <a:ext cx="2560320" cy="11430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821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31272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033"/>
                </a:solidFill>
                <a:latin typeface="Aptos"/>
              </a:defRPr>
            </a:pPr>
            <a:r>
              <a:t>Fuzzy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342900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Levenshtein DP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71800"/>
            <a:ext cx="2560320" cy="11430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1821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A34A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272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033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2900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971800"/>
            <a:ext cx="2560320" cy="11430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31821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A580C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1272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033"/>
                </a:solidFill>
                <a:latin typeface="Aptos"/>
              </a:defRPr>
            </a:pPr>
            <a:r>
              <a:t>PageRank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42900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Citation Authority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434840"/>
            <a:ext cx="10972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451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6451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6451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194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72033"/>
                </a:solidFill>
                <a:latin typeface="Aptos"/>
              </a:defRPr>
            </a:pPr>
            <a:r>
              <a:t>Rabin-Karp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9194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2563EB"/>
                </a:solidFill>
                <a:latin typeface="Aptos"/>
              </a:defRPr>
            </a:pPr>
            <a:r>
              <a:t>O(N + M) average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9194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172033"/>
                </a:solidFill>
                <a:latin typeface="Aptos"/>
              </a:defRPr>
            </a:pPr>
            <a:r>
              <a:t>Exact pattern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480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72033"/>
                </a:solidFill>
                <a:latin typeface="Aptos"/>
              </a:defRPr>
            </a:pPr>
            <a:r>
              <a:t>Levenshtein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480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2563EB"/>
                </a:solidFill>
                <a:latin typeface="Aptos"/>
              </a:defRPr>
            </a:pPr>
            <a:r>
              <a:t>O(MN)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480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172033"/>
                </a:solidFill>
                <a:latin typeface="Aptos"/>
              </a:defRPr>
            </a:pPr>
            <a:r>
              <a:t>Fuzzy similarity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766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72033"/>
                </a:solidFill>
                <a:latin typeface="Aptos"/>
              </a:defRPr>
            </a:pPr>
            <a:r>
              <a:t>TF-IDF / Cosine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766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2563EB"/>
                </a:solidFill>
                <a:latin typeface="Aptos"/>
              </a:defRPr>
            </a:pPr>
            <a:r>
              <a:t>O(V) per vector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3766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172033"/>
                </a:solidFill>
                <a:latin typeface="Aptos"/>
              </a:defRPr>
            </a:pPr>
            <a:r>
              <a:t>Term weighting + similarity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052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72033"/>
                </a:solidFill>
                <a:latin typeface="Aptos"/>
              </a:defRPr>
            </a:pPr>
            <a:r>
              <a:t>PageRank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6052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2563EB"/>
                </a:solidFill>
                <a:latin typeface="Aptos"/>
              </a:defRPr>
            </a:pPr>
            <a:r>
              <a:t>O(I × 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6052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172033"/>
                </a:solidFill>
                <a:latin typeface="Aptos"/>
              </a:defRPr>
            </a:pPr>
            <a:r>
              <a:t>Graph authority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338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72033"/>
                </a:solidFill>
                <a:latin typeface="Aptos"/>
              </a:defRPr>
            </a:pPr>
            <a:r>
              <a:t>Bipartite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8338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2563EB"/>
                </a:solidFill>
                <a:latin typeface="Aptos"/>
              </a:defRPr>
            </a:pPr>
            <a:r>
              <a:t>O(VE)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8338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172033"/>
                </a:solidFill>
                <a:latin typeface="Aptos"/>
              </a:defRPr>
            </a:pPr>
            <a:r>
              <a:t>Distinct topic-paper assignment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624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72033"/>
                </a:solidFill>
                <a:latin typeface="Aptos"/>
              </a:defRPr>
            </a:pPr>
            <a:r>
              <a:t>PriorityQueue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60624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2563EB"/>
                </a:solidFill>
                <a:latin typeface="Aptos"/>
              </a:defRPr>
            </a:pPr>
            <a:r>
              <a:t>O(N log 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60624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172033"/>
                </a:solidFill>
                <a:latin typeface="Aptos"/>
              </a:defRPr>
            </a:pPr>
            <a:r>
              <a:t>Top-K recommendations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ACTUAL SYSTEM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Working Demonstration — Search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11064240" cy="480060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64748B"/>
                </a:solidFill>
                <a:latin typeface="Aptos"/>
              </a:defRPr>
            </a:pPr>
            <a:r>
              <a:t>Demo query: "machine learning, recommendation systems, graph algorithms"</a:t>
            </a:r>
          </a:p>
        </p:txBody>
      </p:sp>
      <p:pic>
        <p:nvPicPr>
          <p:cNvPr id="7" name="Picture 6" descr="Screenshot 2026-10-04 174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5" y="1572768"/>
            <a:ext cx="10588684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A580C"/>
                </a:solidFill>
                <a:latin typeface="Aptos"/>
              </a:defRPr>
            </a:pPr>
            <a:r>
              <a:t>ACTUAL SYSTEM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Explainable Ranking &amp; Research Authority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7452360" cy="484632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6128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  <a:latin typeface="Aptos"/>
              </a:defRPr>
            </a:pPr>
            <a:r>
              <a:t>Relevance Breakdown + Topic Assignment</a:t>
            </a:r>
          </a:p>
        </p:txBody>
      </p:sp>
      <p:pic>
        <p:nvPicPr>
          <p:cNvPr id="7" name="Picture 6" descr="Screenshot 2026-10-04 1744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22035"/>
            <a:ext cx="7452360" cy="33649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56448" y="1481328"/>
            <a:ext cx="3456432" cy="484632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16128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  <a:latin typeface="Aptos"/>
              </a:defRPr>
            </a:pPr>
            <a:r>
              <a:t>PageRank Output</a:t>
            </a:r>
          </a:p>
        </p:txBody>
      </p:sp>
      <p:pic>
        <p:nvPicPr>
          <p:cNvPr id="10" name="Picture 9" descr="image(20261004-12160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3154875"/>
            <a:ext cx="3456432" cy="149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Aptos"/>
              </a:defRPr>
            </a:pPr>
            <a:r>
              <a:t>FINAL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34440"/>
            <a:ext cx="7315200" cy="448056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033"/>
                </a:solidFill>
                <a:latin typeface="Aptos Display"/>
              </a:defRPr>
            </a:pPr>
            <a:r>
              <a:t>Graph Visualization &amp; Review Takeaways</a:t>
            </a:r>
          </a:p>
        </p:txBody>
      </p:sp>
      <p:pic>
        <p:nvPicPr>
          <p:cNvPr id="6" name="Picture 5" descr="Screenshot 2026-10-04 174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97715"/>
            <a:ext cx="7315200" cy="27540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234440"/>
            <a:ext cx="34747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8132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ptos"/>
              </a:defRPr>
            </a:pPr>
            <a:r>
              <a:t>What to explain to the reviewer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92024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Rabin-Karp finds exact topic occurrences.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Levenshtein handles approximate matches.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TF-IDF + cosine measure term importance and vector similarity.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PageRank adds graph-based authority.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DFS matching assigns strong distinct papers to topics.</a:t>
            </a:r>
          </a:p>
          <a:p>
            <a:pPr>
              <a:spcAft>
                <a:spcPts val="600"/>
              </a:spcAft>
              <a:defRPr sz="1050">
                <a:solidFill>
                  <a:srgbClr val="172033"/>
                </a:solidFill>
                <a:latin typeface="Aptos"/>
              </a:defRPr>
            </a:pPr>
            <a:r>
              <a:t>• PriorityQueue returns the Top-K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572000"/>
            <a:ext cx="2880360" cy="7772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754880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Core message: multiple DSA techniques work together in one explainable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8932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DEMO FLOW  →  Query → Score → Match → Rank → Visualize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Smart Research Paper Recommendation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